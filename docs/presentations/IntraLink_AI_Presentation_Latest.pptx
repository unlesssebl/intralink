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Скрипт для спикера:</a:t>
            </a:r>
          </a:p>
          <a:p>
            <a:r>
              <a:t>«Добрый день, коллеги и руководство! Сегодня я представляю результаты внедрения интеллектуальной системы IntraLink AI. Наша цель — кардинальное ускорение 1-й линии поддержки, снижение рутины на инженеров и повышение соблюдения SLA с помощью современных AI-технологий, работающих строго внутри нашего закрытого корпоративного периметра».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Скрипт для спикера:</a:t>
            </a:r>
          </a:p>
          <a:p>
            <a:r>
              <a:t>«В традиционном Helpdesk до половины времени инженера уходит на монотонные операции: войти в тикет, сменить исполнителя, скопировать логин, пойти в AD, закрыть. При этом 10 000 архивных кейсов лежат мертвым грузом, а очередь засорена дубликатами. IntraLink AI устраняет эти проблемы».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Скрипт для спикера:</a:t>
            </a:r>
          </a:p>
          <a:p>
            <a:r>
              <a:t>«Архитектура IntraLink объединяет три слоя: сверху — мгновенные интерфейсы (Telegram и Web Cockpit), в центре — Core API с базой pgvector и локальной LLM, внизу — прямые защищенные модули исполнения в Active Directory и Windows-домене. Тикет переходит в статус 'Выполнена' только после физического подтверждения от контроллера».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Скрипт для спикера:</a:t>
            </a:r>
          </a:p>
          <a:p>
            <a:r>
              <a:t>«На экране — рабочий диспетчерский пульт IntraLink. Инженер видит очередь заявок с автоматической категоризацией по направлениям, таймерами SLA и извлеченными именами компьютеров. Всё обновляется в реальном времени без перезагрузки страниц».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Скрипт для спикера:</a:t>
            </a:r>
          </a:p>
          <a:p>
            <a:r>
              <a:t>«Первая ключевая AI-фича — RAG на базе pgvector. Раньше опыт уходил вместе с сотрудниками. Теперь система векторизует закрытые заявки. При поступлении новой проблемы инженер за 50 миллисекунд получает 3 лучших исторических кейса решения с готовыми инструкциями».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Скрипт для спикера:</a:t>
            </a:r>
          </a:p>
          <a:p>
            <a:r>
              <a:t>«На скриншоте видно работу AI-инспектора. Система сама поняла суть обращения, сгенерировала корректный ответ заявителю и сразу предупредила инженера о наличии дубликата тикета #139929. Инженеру остается только нажать кнопку подтверждения».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Скрипт для спикера:</a:t>
            </a:r>
          </a:p>
          <a:p>
            <a:r>
              <a:t>«Около 25-30% заявок в корпоративной поддержке — это повторные дубли либо заявки не по адресу. IntraLink автоматически связывает дубли с основным тикетом и отменяет их с понятным комментарием. А заявки в АХО или СБ мгновенно перенаправляются по нужным ссылкам без отвлечения инженеров».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Скрипт для спикера:</a:t>
            </a:r>
          </a:p>
          <a:p>
            <a:r>
              <a:t>«На скриншоте показан модуль сетевой экспресс-диагностики. При нажатии кнопки 'Диагностика сети' система за секунду проверяет Ping, DNS, порт SMB и WinRM. Инженер сразу видит, доступен ли ПК пользователя, не тратя время на слепые попытки подключения».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Скрипт для спикера:</a:t>
            </a:r>
          </a:p>
          <a:p>
            <a:r>
              <a:t>«Четвертая и пятая фичи — мультимодальный стек. Модуль /screen автоматически считывает текст ошибки со скриншотов пользователей. А встроенная модель Qwen2.5 сжимает длинные переписки в три четких пункта всего за 1.3 секунды, экономя время при пересменке дежурных».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Скрипт для спикера:</a:t>
            </a:r>
          </a:p>
          <a:p>
            <a:r>
              <a:t>«Главная сила IntraLink — реальное исполнение. Выдача доступа в Wi-Fi группу Active Directory, установка принтера по WinRM выполняются в 1 клик. При этом действует принцип Verified Execution: тикет никогда не закроется, если скрипт в домене вернул ошибку».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Скрипт для спикера:</a:t>
            </a:r>
          </a:p>
          <a:p>
            <a:r>
              <a:t>«Помимо классического списка, доступен визуальный Канбан-пайплайн. Он позволяет дежурному инженеру и тимлиду наглядно оценивать распределение нагрузки и исключать зависание заявок в ожидании».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Скрипт для спикера:</a:t>
            </a:r>
          </a:p>
          <a:p>
            <a:r>
              <a:t>«Для руководства и ИБ принципиален вопрос безопасности: система работает строго внутри периметра, все пароли зашифрованы криптографическим алгоритмом Fernet, а каждое действие логируется с фиксацией времени и исполнителя».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Скрипт для спикера:</a:t>
            </a:r>
          </a:p>
          <a:p>
            <a:r>
              <a:t>«Главный итог в цифрах: время первичной реакции упало на 96% (с 15 минут до 30 секунд), время закрытия типовых тикетов сократилось с 25 минут до полутора минут, а суммарная экономия достигает 160 человеко-часов в месяц, высвобождая инженера для системных проектов».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Скрипт для спикера:</a:t>
            </a:r>
          </a:p>
          <a:p>
            <a:r>
              <a:t>«Наш роадмап включает 3 этапа. Фундамент уже работает: RAG, триаж, AD и локальная LLM внедрены. В ближайших планах — бот самообслуживания для пользователей и распознавание голосовых сообщений. В стратегической перспективе — предиктивное обслуживание до обращения заявителя».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Скрипт для спикера:</a:t>
            </a:r>
          </a:p>
          <a:p>
            <a:r>
              <a:t>«IntraLink AI превратил 1-ю линию поддержки из перегруженного узкого горлышка в прозрачный, защищенный и быстрый сервис. Спасибо за внимание! Готов ответить на вопросы и провести живую демонстрацию системы».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291840" cy="384048"/>
          </a:xfrm>
          <a:prstGeom prst="roundRect">
            <a:avLst/>
          </a:prstGeom>
          <a:solidFill>
            <a:srgbClr val="132440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3B82F6"/>
                </a:solidFill>
                <a:latin typeface="JetBrains Mono"/>
              </a:defRPr>
            </a:pPr>
            <a:r>
              <a:t>NEXT-GEN IT HELPDESK &amp; AI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8FAFC"/>
                </a:solidFill>
                <a:latin typeface="Inter"/>
              </a:defRPr>
            </a:pPr>
            <a:r>
              <a:t>IntraLink AI</a:t>
            </a:r>
          </a:p>
          <a:p>
            <a:pPr>
              <a:defRPr sz="2400" b="1">
                <a:solidFill>
                  <a:srgbClr val="3B82F6"/>
                </a:solidFill>
                <a:latin typeface="Inter"/>
              </a:defRPr>
            </a:pPr>
            <a:r>
              <a:t>Интеллектуальная трансформация Helpdesk 1-й линии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749039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94A3B8"/>
                </a:solidFill>
                <a:latin typeface="Inter"/>
              </a:defRPr>
            </a:pPr>
            <a:r>
              <a:t>Автоматизация триажа, семантическая база знаний RAG (pgvector), локальная LLM-суммаризация, компьютерное зрение и роботизация инфраструктурных задач в закрытом контуре компании.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029200"/>
            <a:ext cx="3291840" cy="1188720"/>
          </a:xfrm>
          <a:prstGeom prst="roundRect">
            <a:avLst/>
          </a:prstGeom>
          <a:solidFill>
            <a:srgbClr val="14171A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166360"/>
            <a:ext cx="29260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0B981"/>
                </a:solidFill>
                <a:latin typeface="Inter"/>
              </a:defRPr>
            </a:pPr>
            <a:r>
              <a:t>-94% MTTR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Сокращение времени решения инцидентов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5029200"/>
            <a:ext cx="3291840" cy="1188720"/>
          </a:xfrm>
          <a:prstGeom prst="roundRect">
            <a:avLst/>
          </a:prstGeom>
          <a:solidFill>
            <a:srgbClr val="14171A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5166360"/>
            <a:ext cx="29260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B82F6"/>
                </a:solidFill>
                <a:latin typeface="Inter"/>
              </a:defRPr>
            </a:pPr>
            <a:r>
              <a:t>100% On-Premise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Полная безопасность и закрытый контур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5029200"/>
            <a:ext cx="3383280" cy="1188720"/>
          </a:xfrm>
          <a:prstGeom prst="roundRect">
            <a:avLst/>
          </a:prstGeom>
          <a:solidFill>
            <a:srgbClr val="14171A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5166360"/>
            <a:ext cx="3017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8B5CF6"/>
                </a:solidFill>
                <a:latin typeface="Inter"/>
              </a:defRPr>
            </a:pPr>
            <a:r>
              <a:t>160+ ч/мес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Экономия рабочего времени инженеров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JetBrains Mono"/>
              </a:defRPr>
            </a:pPr>
            <a:r>
              <a:t>ТЕКУЩИЕ ВЫЗОВЫ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Inter"/>
              </a:defRPr>
            </a:pPr>
            <a:r>
              <a:t>Узкие места традиционной 1-й линии поддержки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  <a:latin typeface="Inter"/>
              </a:defRPr>
            </a:pPr>
            <a:r>
              <a:t>С чем сталкивается ИТ-отдел при классическом ручном обслуживании заявок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37560" cy="4663440"/>
          </a:xfrm>
          <a:prstGeom prst="roundRect">
            <a:avLst/>
          </a:prstGeom>
          <a:solidFill>
            <a:srgbClr val="14171A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10512"/>
            <a:ext cx="28803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Inter"/>
              </a:defRPr>
            </a:pPr>
            <a:r>
              <a:t>1. Высокая доля рутины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94560"/>
            <a:ext cx="28803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• До 40-50% заявок — однотипные задачи (Wi-Fi, сброс паролей, подключение принтеров, консультации).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• Инженер тратит до 15 минут только на открытие, смену статуса, вбивание шаблона и закрытие каждого тикета.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• В пиковые часы накапливается очередь («завал»), срываются регламентные нормативы SLA.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337560" cy="4663440"/>
          </a:xfrm>
          <a:prstGeom prst="roundRect">
            <a:avLst/>
          </a:prstGeom>
          <a:solidFill>
            <a:srgbClr val="14171A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810512"/>
            <a:ext cx="28803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Inter"/>
              </a:defRPr>
            </a:pPr>
            <a:r>
              <a:t>2. Потеря накопленного опыта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194560"/>
            <a:ext cx="28803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• Исторические решения заперты в архиве (10 000+ заявок без удобного семантического поиска).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• Новый инженер заново исследует сбой, который уже решался коллегой на прошлой неделе.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• Рост MTTR (времени решения) сложных инцидентов из-за долгого ручного поиска инструкций.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45920"/>
            <a:ext cx="3337560" cy="4663440"/>
          </a:xfrm>
          <a:prstGeom prst="roundRect">
            <a:avLst/>
          </a:prstGeom>
          <a:solidFill>
            <a:srgbClr val="14171A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810512"/>
            <a:ext cx="28803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Inter"/>
              </a:defRPr>
            </a:pPr>
            <a:r>
              <a:t>3. Дубли и мусорный поток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194560"/>
            <a:ext cx="28803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• До 25% входящего потока — повторные заявки-дубликаты от нетерпеливых заявителей.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• Ошибочные направления: заявки в ИТ, предназначенные для АХО, безопасности или кадров.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• Ручная отмена и разъяснения отнимают часы у квалифицированных специалистов.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JetBrains Mono"/>
              </a:defRPr>
            </a:pPr>
            <a:r>
              <a:t>АРХИТЕКТУРА РЕШЕНИЯ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Inter"/>
              </a:defRPr>
            </a:pPr>
            <a:r>
              <a:t>Комплексная AI-экосистема IntraLink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  <a:latin typeface="Inter"/>
              </a:defRPr>
            </a:pPr>
            <a:r>
              <a:t>Единый интеллектуальный мозг, детерминированные правила и прямое исполнение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698480" cy="1371600"/>
          </a:xfrm>
          <a:prstGeom prst="roundRect">
            <a:avLst/>
          </a:prstGeom>
          <a:solidFill>
            <a:srgbClr val="14171A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10512"/>
            <a:ext cx="102412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Inter"/>
              </a:defRPr>
            </a:pPr>
            <a:r>
              <a:t>1. Слой восприятия и интерфейсов (Интерактивный ввод)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4884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• Telegram-бот: Моментальные Push-оповещения за 0.3 сек через Redis Streams с Consumer Groups.</a:t>
            </a:r>
            <a:br/>
            <a:r>
              <a:t>• Web SPA Cockpit (/admin): Интерактивный диспетчерский пульт с инспектором заявок, фильтрами и канбаном.</a:t>
            </a:r>
            <a:br/>
            <a:r>
              <a:t>• CLI Execution Agent: Пакетный разбор и диагностика через слэш-команды.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00400"/>
            <a:ext cx="10698480" cy="1645920"/>
          </a:xfrm>
          <a:prstGeom prst="roundRect">
            <a:avLst/>
          </a:prstGeom>
          <a:solidFill>
            <a:srgbClr val="14171A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364992"/>
            <a:ext cx="102412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Inter"/>
              </a:defRPr>
            </a:pPr>
            <a:r>
              <a:t>2. Интеллектуальное ядро Core API &amp; AI Hub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703320"/>
            <a:ext cx="10241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• Rule Engine: Детерминированный триаж, классификация и расчет жестких SLA.</a:t>
            </a:r>
            <a:br/>
            <a:r>
              <a:t>• RAG Engine: Семантический векторный поиск решений в PostgreSQL 16 (pgvector + FastEmbed).</a:t>
            </a:r>
            <a:br/>
            <a:r>
              <a:t>• Local LLM Engine: Локальная нейросеть Ollama (Qwen2.5:1.5B) для моментальной суммаризации переписки.</a:t>
            </a:r>
            <a:br/>
            <a:r>
              <a:t>• Vision OCR: Мультимодальный анализ скриншотов сбоев, ошибок 1С и BSOD.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029200"/>
            <a:ext cx="10698480" cy="1280160"/>
          </a:xfrm>
          <a:prstGeom prst="roundRect">
            <a:avLst/>
          </a:prstGeom>
          <a:solidFill>
            <a:srgbClr val="14171A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5193792"/>
            <a:ext cx="102412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Inter"/>
              </a:defRPr>
            </a:pPr>
            <a:r>
              <a:t>3. Уровень исполнения в инфраструктуре (Zero-Click Execution)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5486400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• Active Directory PowerShell (WLAN-WORKNET / Учетные записи)  |  WinRM / SMB (Установка принтеров)</a:t>
            </a:r>
            <a:br/>
            <a:r>
              <a:t>• Сетевая экспресс-диагностика (Ping, DNS, SMB:445, WinRM:5985) с защитой Verified Execution.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JetBrains Mono"/>
              </a:defRPr>
            </a:pPr>
            <a:r>
              <a:t>ДЕМОНСТРАЦИЯ СИСТЕМЫ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Inter"/>
              </a:defRPr>
            </a:pPr>
            <a:r>
              <a:t>Интеллектуальный реестр и диспетчерский пульт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  <a:latin typeface="Inter"/>
              </a:defRPr>
            </a:pPr>
            <a:r>
              <a:t>Оперативный контроль потока заявок в реальном времени со смарт-фильтрацией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4389120" cy="4663440"/>
          </a:xfrm>
          <a:prstGeom prst="roundRect">
            <a:avLst/>
          </a:prstGeom>
          <a:solidFill>
            <a:srgbClr val="14171A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10512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Inter"/>
              </a:defRPr>
            </a:pPr>
            <a:r>
              <a:t>Возможности пульта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94560"/>
            <a:ext cx="39319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• Смарт-фильтры по 11 направлениям:</a:t>
            </a:r>
            <a:br/>
            <a:r>
              <a:t>Все, Wi-Fi, 1C, Доступы, Принтеры, Ремонт (Каб. 112), Сеть, Почта, Оборудование.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• Цветовая шкала SLA:</a:t>
            </a:r>
            <a:br/>
            <a:r>
              <a:t>Мгновенная подсветка тикетов с приближающимся дедлайном (Critical / Urgent / Normal).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• Автопривязка ПК и контактов:</a:t>
            </a:r>
            <a:br/>
            <a:r>
              <a:t>Извлечение имени рабочей станции (`NB-0081`, `PC-114`) и контактов заявителя.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0" y="1645920"/>
            <a:ext cx="6126480" cy="4663440"/>
          </a:xfrm>
          <a:prstGeom prst="roundRect">
            <a:avLst/>
          </a:prstGeom>
          <a:solidFill>
            <a:srgbClr val="14171A"/>
          </a:solidFill>
          <a:ln w="12700">
            <a:solidFill>
              <a:srgbClr val="282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1_queue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2" y="1719072"/>
            <a:ext cx="5980176" cy="42976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40680" y="6016751"/>
            <a:ext cx="58521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JetBrains Mono"/>
              </a:defRPr>
            </a:pPr>
            <a:r>
              <a:t>Реальный вид очереди заявок Helpdesk с активными фильтрами и статусами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JetBrains Mono"/>
              </a:defRPr>
            </a:pPr>
            <a:r>
              <a:t>AI FEATURE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Inter"/>
              </a:defRPr>
            </a:pPr>
            <a:r>
              <a:t>Семантический RAG-поиск в базе решений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  <a:latin typeface="Inter"/>
              </a:defRPr>
            </a:pPr>
            <a:r>
              <a:t>Мгновенное извлечение готовых решений из 10 000+ архивных кейсов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14171A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10512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Inter"/>
              </a:defRPr>
            </a:pPr>
            <a:r>
              <a:t>Как работает технология RAG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4028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1. Автосинхронизация (`/sync`):</a:t>
            </a:r>
            <a:br/>
            <a:r>
              <a:t>Каждая решенная инженером заявка векторизуется моделью FastEmbed и сохраняется в pgvector.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2. Семантическое понимание сути:</a:t>
            </a:r>
            <a:br/>
            <a:r>
              <a:t>Поиск находит релевантные решения не по точным ключевым словам, а по смыслу проблемы (синонимы, опечатки, разное описание сбоя пользователем).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3. Время отклика:</a:t>
            </a:r>
            <a:br/>
            <a:r>
              <a:t>Поиск по 10 000+ историческим кейсам занимает менее 50 миллисекунд.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14171A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810512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Inter"/>
              </a:defRPr>
            </a:pPr>
            <a:r>
              <a:t>Бизнес-эффект и выгода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24028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• Сокращение времени диагностики сложных инцидентов с 30 минут до 1 минуты.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Быстрый онбординг новичков: начинающий инженер сразу видит точные шаги решения от ведущих экспертов.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Стандартизация качества ответов: заявители получают проверенные инструкции.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Zero Cloud Leakage: все векторные базы и модели работают строго на корпоративном сервере.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JetBrains Mono"/>
              </a:defRPr>
            </a:pPr>
            <a:r>
              <a:t>AI FEATURE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Inter"/>
              </a:defRPr>
            </a:pPr>
            <a:r>
              <a:t>Инспектор тикета и генерация черновиков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  <a:latin typeface="Inter"/>
              </a:defRPr>
            </a:pPr>
            <a:r>
              <a:t>Контекстный анализ заявки, обнаружение дубликатов и персонализированные ответы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4389120" cy="4663440"/>
          </a:xfrm>
          <a:prstGeom prst="roundRect">
            <a:avLst/>
          </a:prstGeom>
          <a:solidFill>
            <a:srgbClr val="14171A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10512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Inter"/>
              </a:defRPr>
            </a:pPr>
            <a:r>
              <a:t>Интеллект инспектора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94560"/>
            <a:ext cx="39319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• Авто-генерация ответов:</a:t>
            </a:r>
            <a:br/>
            <a:r>
              <a:t>Система анализирует заявку и формирует персонализированный вежливый черновик ответа с подстановкой имени заявителя и регламентных шагов.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• Авто-определение дубликата:</a:t>
            </a:r>
            <a:br/>
            <a:r>
              <a:t>Инспектор подсвечивает: «Обнаружен дубликат заявки #139929» с кнопкой объединения.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• Режимы отправки:</a:t>
            </a:r>
            <a:br/>
            <a:r>
              <a:t>Отправка комментария, перевод в ожидание или автоматическое закрытие с фиксацией трудозатрат.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0" y="1645920"/>
            <a:ext cx="6126480" cy="4663440"/>
          </a:xfrm>
          <a:prstGeom prst="roundRect">
            <a:avLst/>
          </a:prstGeom>
          <a:solidFill>
            <a:srgbClr val="14171A"/>
          </a:solidFill>
          <a:ln w="12700">
            <a:solidFill>
              <a:srgbClr val="282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4_auto_reply_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2" y="1719072"/>
            <a:ext cx="5980176" cy="42976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40680" y="6016751"/>
            <a:ext cx="58521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JetBrains Mono"/>
              </a:defRPr>
            </a:pPr>
            <a:r>
              <a:t>Инспектор заявки: AI черновик ответа и предупреждение о дубликате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JetBrains Mono"/>
              </a:defRPr>
            </a:pPr>
            <a:r>
              <a:t>AI FEATURE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Inter"/>
              </a:defRPr>
            </a:pPr>
            <a:r>
              <a:t>Фильтрация шума: Умные дубликаты и авто-редирект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  <a:latin typeface="Inter"/>
              </a:defRPr>
            </a:pPr>
            <a:r>
              <a:t>Автоматическая очистка очереди от повторов и ошибочно направленных тикетов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14171A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10512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Inter"/>
              </a:defRPr>
            </a:pPr>
            <a:r>
              <a:t>Автоматическое слияние дубликатов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4028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• Проблема:</a:t>
            </a:r>
            <a:br/>
            <a:r>
              <a:t>Пользователи создают 2-3 одинаковые заявки подряд (через портал, почту и телефон).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AI-Решение (`/duplicates`):</a:t>
            </a:r>
            <a:br/>
            <a:r>
              <a:t>Алгоритм находит семантические и временные совпадения, определяет Master Ticket (основную заявку), переводит копии в статус «Отменена» и оставляет пользователю вежливый комментарий со ссылкой на основной тикет.</a:t>
            </a:r>
          </a:p>
          <a:p>
            <a:pPr>
              <a:defRPr sz="1200" b="1">
                <a:solidFill>
                  <a:srgbClr val="F59E0B"/>
                </a:solidFill>
              </a:defRPr>
            </a:pPr>
            <a:r>
              <a:t>• Эффект: Полное исключение двойной работы разными инженерами.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14171A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810512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Inter"/>
              </a:defRPr>
            </a:pPr>
            <a:r>
              <a:t>Интеллектуальный редирект сервисов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24028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• Проблема:</a:t>
            </a:r>
            <a:br/>
            <a:r>
              <a:t>Заявки на ремонт мебели, пропуска или замену ламп по ошибке падают в очередь ИТ-отдела.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AI-Решение (`/redirect`):</a:t>
            </a:r>
            <a:br/>
            <a:r>
              <a:t>Система распознает нецелевой сервис, отменяет ошибочный тикет в ИТ-очереди и отправляет заявителю точную ссылку на нужную услугу в каталоге IntraService (АХО, СБ, Кадры).</a:t>
            </a:r>
          </a:p>
          <a:p>
            <a:pPr>
              <a:defRPr sz="1200" b="1">
                <a:solidFill>
                  <a:srgbClr val="3B82F6"/>
                </a:solidFill>
              </a:defRPr>
            </a:pPr>
            <a:r>
              <a:t>• Эффект: Очередь ИТ чиста от непрофильных задач.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JetBrains Mono"/>
              </a:defRPr>
            </a:pPr>
            <a:r>
              <a:t>AI FEATURE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Inter"/>
              </a:defRPr>
            </a:pPr>
            <a:r>
              <a:t>Экспресс-диагностика сети и рабочих станций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  <a:latin typeface="Inter"/>
              </a:defRPr>
            </a:pPr>
            <a:r>
              <a:t>Мгновенная проверка доступности хоста заявителя по сетевым протоколам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4389120" cy="4663440"/>
          </a:xfrm>
          <a:prstGeom prst="roundRect">
            <a:avLst/>
          </a:prstGeom>
          <a:solidFill>
            <a:srgbClr val="14171A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10512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Inter"/>
              </a:defRPr>
            </a:pPr>
            <a:r>
              <a:t>Сетевой сканер (/diag)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94560"/>
            <a:ext cx="39319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• Параллельная 4-точечная проверка:</a:t>
            </a:r>
            <a:br/>
            <a:r>
              <a:t>1. ICMP Ping (базовая связность)</a:t>
            </a:r>
            <a:br/>
            <a:r>
              <a:t>2. DNS Resolve (соответствие IP и имени хоста)</a:t>
            </a:r>
            <a:br/>
            <a:r>
              <a:t>3. SMB Port 445 (файловый доступ)</a:t>
            </a:r>
            <a:br/>
            <a:r>
              <a:t>4. WinRM Port 5985 (удаленное управление).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• Скорость выполнения:</a:t>
            </a:r>
            <a:br/>
            <a:r>
              <a:t>Все проверки выполняются параллельно менее чем за 1 секунду.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• Практическая польза:</a:t>
            </a:r>
            <a:br/>
            <a:r>
              <a:t>Инженер еще до звонка заявителю знает, включен ли компьютер и готов ли он к удаленному подключению.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0" y="1645920"/>
            <a:ext cx="6126480" cy="4663440"/>
          </a:xfrm>
          <a:prstGeom prst="roundRect">
            <a:avLst/>
          </a:prstGeom>
          <a:solidFill>
            <a:srgbClr val="14171A"/>
          </a:solidFill>
          <a:ln w="12700">
            <a:solidFill>
              <a:srgbClr val="282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3_network_diagnos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2" y="1719072"/>
            <a:ext cx="5980176" cy="42976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40680" y="6016751"/>
            <a:ext cx="58521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JetBrains Mono"/>
              </a:defRPr>
            </a:pPr>
            <a:r>
              <a:t>Результат сетевой экспресс-диагностики рабочего места заявителя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JetBrains Mono"/>
              </a:defRPr>
            </a:pPr>
            <a:r>
              <a:t>AI FEATURE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Inter"/>
              </a:defRPr>
            </a:pPr>
            <a:r>
              <a:t>Компьютерное зрение и локальная нейросеть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  <a:latin typeface="Inter"/>
              </a:defRPr>
            </a:pPr>
            <a:r>
              <a:t>Мультимодальный анализ скриншотов и моментальная суммаризация диалогов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14171A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10512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Inter"/>
              </a:defRPr>
            </a:pPr>
            <a:r>
              <a:t>Vision OCR: Анализ скриншотов (/screen)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4028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• Автоскачивание вложений из IntraService.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Распознавание системных окон: ошибки 1С, синие экраны (BSOD), сетевые ошибки Windows, сбои драйверов.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Формирование гипотезы первопричины (Root Cause) и чек-листа решения до первого контакта с пользователем.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14171A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810512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Inter"/>
              </a:defRPr>
            </a:pPr>
            <a:r>
              <a:t>Локальная LLM: Суммаризация (Ollama)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24028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• Модель: Qwen2.5:1.5B в изолированном Docker-контейнере.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Сжатие переписки: Анализирует длинную ветку из 10+ комментариев за 1.3 секунды.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Структурированная выжимка:</a:t>
            </a:r>
            <a:br/>
            <a:r>
              <a:t>1. Суть проблемы</a:t>
            </a:r>
            <a:br/>
            <a:r>
              <a:t>2. Что уже предпринималось</a:t>
            </a:r>
            <a:br/>
            <a:r>
              <a:t>3. Текущий блокер и следующий шаг.</a:t>
            </a:r>
          </a:p>
          <a:p>
            <a:pPr>
              <a:defRPr sz="1200" b="1">
                <a:solidFill>
                  <a:srgbClr val="8B5CF6"/>
                </a:solidFill>
              </a:defRPr>
            </a:pPr>
            <a:r>
              <a:t>• 100% приватность: Никакие данные не отправляются во внешние облака.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JetBrains Mono"/>
              </a:defRPr>
            </a:pPr>
            <a:r>
              <a:t>AI FEATURE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Inter"/>
              </a:defRPr>
            </a:pPr>
            <a:r>
              <a:t>Роботизация инфраструктуры (Zero-Click Execution)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  <a:latin typeface="Inter"/>
              </a:defRPr>
            </a:pPr>
            <a:r>
              <a:t>Автоматическое применение изменений в Active Directory и Windows-домене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37560" cy="4663440"/>
          </a:xfrm>
          <a:prstGeom prst="roundRect">
            <a:avLst/>
          </a:prstGeom>
          <a:solidFill>
            <a:srgbClr val="14171A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10512"/>
            <a:ext cx="28803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Inter"/>
              </a:defRPr>
            </a:pPr>
            <a:r>
              <a:t>1. Active Directory (Wi-Fi / УЗ)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94560"/>
            <a:ext cx="28803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• Выдача корпоративного Wi-Fi (`WLAN-WORKNET`) за 2 секунды.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• Нормализация ФИО/инициалов и поиск учетной записи в домене.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• Single-DC Affinity: исключение рассинхронизации репликации между DC.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337560" cy="4663440"/>
          </a:xfrm>
          <a:prstGeom prst="roundRect">
            <a:avLst/>
          </a:prstGeom>
          <a:solidFill>
            <a:srgbClr val="14171A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810512"/>
            <a:ext cx="28803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Inter"/>
              </a:defRPr>
            </a:pPr>
            <a:r>
              <a:t>2. Оргтехника (WinRM / SMB)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194560"/>
            <a:ext cx="28803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• Удаленная установка драйверов принтеров без визита к рабочему месту.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• База моделей оргтехники и автоматическое сопоставление сетевых портов.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• WMI bootstrap и Fail-Fast диагностика.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45920"/>
            <a:ext cx="3337560" cy="4663440"/>
          </a:xfrm>
          <a:prstGeom prst="roundRect">
            <a:avLst/>
          </a:prstGeom>
          <a:solidFill>
            <a:srgbClr val="14171A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810512"/>
            <a:ext cx="28803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Inter"/>
              </a:defRPr>
            </a:pPr>
            <a:r>
              <a:t>3. Verified Execution 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194560"/>
            <a:ext cx="28803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• Принцип подтвержденного действия:</a:t>
            </a:r>
            <a:br/>
            <a:r>
              <a:t>Статус тикета 'Выполнена' выставляется ТОЛЬКО после получения успешного кода возврата от домена.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• Автоматическое списание трудозатрат и протоколирование аудита.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JetBrains Mono"/>
              </a:defRPr>
            </a:pPr>
            <a:r>
              <a:t>ПРОЦЕССНОЕ УПРАВЛЕНИЕ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Inter"/>
              </a:defRPr>
            </a:pPr>
            <a:r>
              <a:t>Канбан-пайплайн и гибкое ведение очереди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  <a:latin typeface="Inter"/>
              </a:defRPr>
            </a:pPr>
            <a:r>
              <a:t>Визуализация жизненного цикла заявок по стадиям обработки 1-й линии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4389120" cy="4663440"/>
          </a:xfrm>
          <a:prstGeom prst="roundRect">
            <a:avLst/>
          </a:prstGeom>
          <a:solidFill>
            <a:srgbClr val="14171A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10512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Inter"/>
              </a:defRPr>
            </a:pPr>
            <a:r>
              <a:t>Преимущества Канбан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94560"/>
            <a:ext cx="39319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• Колонки жизненного цикла:</a:t>
            </a:r>
            <a:br/>
            <a:r>
              <a:t>Новые (Входящие) → В работе (Назначены) → Требует уточнения (Ожидание заявителя) → Выполнены.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• Визуальный контроль завалов:</a:t>
            </a:r>
            <a:br/>
            <a:r>
              <a:t>Руководитель группы 1-й линии сразу видит, на какой стадии скапливаются тикеты.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• Быстрый фокус:</a:t>
            </a:r>
            <a:br/>
            <a:r>
              <a:t>Инженер кликает на карточку и моментально переходит к инспектору и решению проблемы.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0" y="1645920"/>
            <a:ext cx="6126480" cy="4663440"/>
          </a:xfrm>
          <a:prstGeom prst="roundRect">
            <a:avLst/>
          </a:prstGeom>
          <a:solidFill>
            <a:srgbClr val="14171A"/>
          </a:solidFill>
          <a:ln w="12700">
            <a:solidFill>
              <a:srgbClr val="282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5_kanban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2" y="1719072"/>
            <a:ext cx="5980176" cy="42976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40680" y="6016751"/>
            <a:ext cx="58521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JetBrains Mono"/>
              </a:defRPr>
            </a:pPr>
            <a:r>
              <a:t>Канбан-доска стадий обработки очереди обращений Helpdesk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JetBrains Mono"/>
              </a:defRPr>
            </a:pPr>
            <a:r>
              <a:t>БЕЗОПАСНОСТЬ И КОМПЛАЕНС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Inter"/>
              </a:defRPr>
            </a:pPr>
            <a:r>
              <a:t>Enterprise-Grade безопасность и защита данных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  <a:latin typeface="Inter"/>
              </a:defRPr>
            </a:pPr>
            <a:r>
              <a:t>100% On-Premise, криптографическая защита и строгий аудит действий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37560" cy="4663440"/>
          </a:xfrm>
          <a:prstGeom prst="roundRect">
            <a:avLst/>
          </a:prstGeom>
          <a:solidFill>
            <a:srgbClr val="14171A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10512"/>
            <a:ext cx="28803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Inter"/>
              </a:defRPr>
            </a:pPr>
            <a:r>
              <a:t>1. Изолированный контур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94560"/>
            <a:ext cx="28803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• Полный On-Premise хостинг (Docker, локальный Postgres 16, Redis 7, Core API).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• Никакие персональные данные, пароли или тексты заявок не отправляются в публичные облачные LLM.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337560" cy="4663440"/>
          </a:xfrm>
          <a:prstGeom prst="roundRect">
            <a:avLst/>
          </a:prstGeom>
          <a:solidFill>
            <a:srgbClr val="14171A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810512"/>
            <a:ext cx="28803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Inter"/>
              </a:defRPr>
            </a:pPr>
            <a:r>
              <a:t>2. Криптография Fernet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194560"/>
            <a:ext cx="28803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• Доменные учетные данные шифруются симметричным ключом Fernet.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• Бот не хранит пароли пользователей локально.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• Защита от Timing Attacks при валидации ключей (secrets.compare_digest).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45920"/>
            <a:ext cx="3337560" cy="4663440"/>
          </a:xfrm>
          <a:prstGeom prst="roundRect">
            <a:avLst/>
          </a:prstGeom>
          <a:solidFill>
            <a:srgbClr val="14171A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810512"/>
            <a:ext cx="28803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Inter"/>
              </a:defRPr>
            </a:pPr>
            <a:r>
              <a:t>3. Строгий аудит и SLA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194560"/>
            <a:ext cx="28803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• Двойное логирование исполнителей: основной инженер + ассистент.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• Фиксация каждого изменения в истории IntraService с точным списанием трудозатрат.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• Полная прозрачность для службы информационной безопасности.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JetBrains Mono"/>
              </a:defRPr>
            </a:pPr>
            <a:r>
              <a:t>БИЗНЕС-ЭФФЕКТ И ROI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Inter"/>
              </a:defRPr>
            </a:pPr>
            <a:r>
              <a:t>Измеримые результаты внедрения IntraLink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  <a:latin typeface="Inter"/>
              </a:defRPr>
            </a:pPr>
            <a:r>
              <a:t>Сравнение ключевых показателей эффективности работы Helpdesk до и после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468880" cy="4663440"/>
          </a:xfrm>
          <a:prstGeom prst="roundRect">
            <a:avLst/>
          </a:prstGeom>
          <a:solidFill>
            <a:srgbClr val="14171A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10512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Inter"/>
              </a:defRPr>
            </a:pPr>
            <a:r>
              <a:t>Время первой реакции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21031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B82F6"/>
                </a:solidFill>
                <a:latin typeface="Inter"/>
              </a:defRPr>
            </a:pPr>
            <a:r>
              <a:t>-96%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Было: 15–20 мин</a:t>
            </a:r>
            <a:br/>
            <a:r>
              <a:t>Стало: 30 секунд</a:t>
            </a:r>
            <a:br/>
            <a:br/>
            <a:r>
              <a:t>Мгновенные Push-уведомления в Telegram через Redis Streams.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645920"/>
            <a:ext cx="2468880" cy="4663440"/>
          </a:xfrm>
          <a:prstGeom prst="roundRect">
            <a:avLst/>
          </a:prstGeom>
          <a:solidFill>
            <a:srgbClr val="14171A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3320" y="1810512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Inter"/>
              </a:defRPr>
            </a:pPr>
            <a:r>
              <a:t>MTTR (Время решения)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286000"/>
            <a:ext cx="21031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B981"/>
                </a:solidFill>
                <a:latin typeface="Inter"/>
              </a:defRPr>
            </a:pPr>
            <a:r>
              <a:t>-94%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Было: 25 минут</a:t>
            </a:r>
            <a:br/>
            <a:r>
              <a:t>Стало: 1.5 минуты</a:t>
            </a:r>
            <a:br/>
            <a:br/>
            <a:r>
              <a:t>Для типовых заявок (Wi-Fi, пароли, принтеры, консультации).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45920"/>
            <a:ext cx="2468880" cy="4663440"/>
          </a:xfrm>
          <a:prstGeom prst="roundRect">
            <a:avLst/>
          </a:prstGeom>
          <a:solidFill>
            <a:srgbClr val="14171A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810512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Inter"/>
              </a:defRPr>
            </a:pPr>
            <a:r>
              <a:t>Автоматизация 1-й линии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286000"/>
            <a:ext cx="21031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8B5CF6"/>
                </a:solidFill>
                <a:latin typeface="Inter"/>
              </a:defRPr>
            </a:pPr>
            <a:r>
              <a:t>до 45%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Очереди обрабатывается в полуавтоматическом и автоматическом режиме без ручного набора текста.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1645920"/>
            <a:ext cx="2468880" cy="4663440"/>
          </a:xfrm>
          <a:prstGeom prst="roundRect">
            <a:avLst/>
          </a:prstGeom>
          <a:solidFill>
            <a:srgbClr val="14171A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89720" y="1810512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Inter"/>
              </a:defRPr>
            </a:pPr>
            <a:r>
              <a:t>Экономия времени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2286000"/>
            <a:ext cx="21031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59E0B"/>
                </a:solidFill>
                <a:latin typeface="Inter"/>
              </a:defRPr>
            </a:pPr>
            <a:r>
              <a:t>160 ч/мес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Высвобождается до 1 FTE инженера для решения сложных инфраструктурных задач развития.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JetBrains Mono"/>
              </a:defRPr>
            </a:pPr>
            <a:r>
              <a:t>СТРАТЕГИЯ РАЗВИТИЯ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Inter"/>
              </a:defRPr>
            </a:pPr>
            <a:r>
              <a:t>Дорожная карта развития IntraLink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  <a:latin typeface="Inter"/>
              </a:defRPr>
            </a:pPr>
            <a:r>
              <a:t>Ключевые направления масштабирования платформы на следующие кварталы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37560" cy="4663440"/>
          </a:xfrm>
          <a:prstGeom prst="roundRect">
            <a:avLst/>
          </a:prstGeom>
          <a:solidFill>
            <a:srgbClr val="14171A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10512"/>
            <a:ext cx="28803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Inter"/>
              </a:defRPr>
            </a:pPr>
            <a:r>
              <a:t>Этап 1: Реализовано (Внедрено)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94560"/>
            <a:ext cx="28803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✓ FastAPI Core Gateway &amp; Web UI</a:t>
            </a:r>
            <a:br/>
            <a:r>
              <a:t>✓ RAG база знаний pgvector + FastEmbed</a:t>
            </a:r>
            <a:br/>
            <a:r>
              <a:t>✓ Пакетный триаж очереди (/triage)</a:t>
            </a:r>
            <a:br/>
            <a:r>
              <a:t>✓ Авто-дубликаты и авто-редирект</a:t>
            </a:r>
            <a:br/>
            <a:r>
              <a:t>✓ Роботизация AD WLAN &amp; WinRM</a:t>
            </a:r>
            <a:br/>
            <a:r>
              <a:t>✓ Локальная LLM суммаризация Qwen2.5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337560" cy="4663440"/>
          </a:xfrm>
          <a:prstGeom prst="roundRect">
            <a:avLst/>
          </a:prstGeom>
          <a:solidFill>
            <a:srgbClr val="14171A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810512"/>
            <a:ext cx="28803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Inter"/>
              </a:defRPr>
            </a:pPr>
            <a:r>
              <a:t>Этап 2: Ближайший квартал (Q3-Q4)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194560"/>
            <a:ext cx="28803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• Интерактивный AI-саппорт в Telegram для пользователей (самообслуживание).</a:t>
            </a:r>
            <a:br/>
            <a:r>
              <a:t>• Аудио-транскрипция голосовых заявок и звонков (Whisper local).</a:t>
            </a:r>
            <a:br/>
            <a:r>
              <a:t>• Расширение библиотеки драйверов оргтехники и SNMP-мониторинг остатка картриджей.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45920"/>
            <a:ext cx="3337560" cy="4663440"/>
          </a:xfrm>
          <a:prstGeom prst="roundRect">
            <a:avLst/>
          </a:prstGeom>
          <a:solidFill>
            <a:srgbClr val="14171A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810512"/>
            <a:ext cx="28803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Inter"/>
              </a:defRPr>
            </a:pPr>
            <a:r>
              <a:t>Этап 3: Стратегическая перспектива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194560"/>
            <a:ext cx="28803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• Предиктивная аналитика сбоев рабочих станций (предупреждение сбоев до создания тикета).</a:t>
            </a:r>
            <a:br/>
            <a:r>
              <a:t>• Автоматический аудит узких мест ИТ-процессов.</a:t>
            </a:r>
            <a:br/>
            <a:r>
              <a:t>• Кросс-сервисная интеграция с 1C и корпоративной телефонией.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8FAFC"/>
                </a:solidFill>
                <a:latin typeface="Inter"/>
              </a:defRPr>
            </a:pPr>
            <a:r>
              <a:t>IntraLink AI</a:t>
            </a:r>
          </a:p>
          <a:p>
            <a:pPr>
              <a:defRPr sz="2400" b="1">
                <a:solidFill>
                  <a:srgbClr val="10B981"/>
                </a:solidFill>
                <a:latin typeface="Inter"/>
              </a:defRPr>
            </a:pPr>
            <a:r>
              <a:t>Интеллект. Скорость. Безопасность.</a:t>
            </a:r>
          </a:p>
          <a:p>
            <a:br/>
            <a:pPr>
              <a:defRPr sz="1400">
                <a:solidFill>
                  <a:srgbClr val="94A3B8"/>
                </a:solidFill>
                <a:latin typeface="Inter"/>
              </a:defRPr>
            </a:pPr>
            <a:r>
              <a:t>Готовы ответить на ваши вопросы и продемонстрировать систему в действии.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4206240"/>
            <a:ext cx="10698480" cy="1828800"/>
          </a:xfrm>
          <a:prstGeom prst="roundRect">
            <a:avLst/>
          </a:prstGeom>
          <a:solidFill>
            <a:srgbClr val="14171A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4370831"/>
            <a:ext cx="102412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Inter"/>
              </a:defRPr>
            </a:pPr>
            <a:r>
              <a:t>Контакты и ресурсы системы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4709160"/>
            <a:ext cx="10241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  <a:latin typeface="JetBrains Mono"/>
              </a:defRPr>
            </a:pPr>
            <a:r>
              <a:t>• Веб-панель управления Helpdesk: http://localhost:8000/admin</a:t>
            </a:r>
            <a:br/>
            <a:r>
              <a:t>• Интерактивная Web-версия презентации: /docs/presentations/index.html</a:t>
            </a:r>
            <a:br/>
            <a:r>
              <a:t>• Архитектура и спецификации: /docs/architecture.md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