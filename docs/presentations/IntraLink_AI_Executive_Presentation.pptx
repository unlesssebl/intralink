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Скрипт для спикера:</a:t>
            </a:r>
          </a:p>
          <a:p>
            <a:r>
              <a:t>«Добрый день, коллеги и руководство! Сегодня я представляю результаты внедрения интеллектуальной системы IntraLink AI. Наша цель заключалась в кардинальном ускорении 1-й линии поддержки, снижении рутинной нагрузки на инженеров и повышении соблюдения SLA с помощью современных AI-технологий, работающих строго внутри нашего закрытого корпоративного периметра без передачи данных наружу».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Скрипт для спикера:</a:t>
            </a:r>
          </a:p>
          <a:p>
            <a:r>
              <a:t>«Посмотрим на типичный день 1-й линии техподдержки. Более 45% всего рабочего времени уходит на механические манипуляции: зайти в тикет, сменить исполнителя, выставить категорию, скопировать логин, пойти в Active Directory, добавить в группу, вернуться, написать комментарий и закрыть. При этом колоссальный массив закрытых заявок не помогал инженерам быстро находить редкие сбои. IntraLink AI решает именно эти три корневые проблемы».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Скрипт для спикера:</a:t>
            </a:r>
          </a:p>
          <a:p>
            <a:r>
              <a:t>«Архитектура IntraLink объединяет три ключевых слоя. На верхнем уровне — удобные интерфейсы для дежурного инженера: мгновенный Telegram-бот и командный пульт. В центре — единое ядро Core API с векторным хранилищем pgvector и локальной нейросетью. На нижнем уровне — модули прямого защищенного исполнения задач в Active Directory и Windows-инфраструктуре с принципом Verified Execution Only: тикет никогда не закроется, пока физическая операция не подтверждена кодом возврата».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Скрипт для спикера:</a:t>
            </a:r>
          </a:p>
          <a:p>
            <a:r>
              <a:t>«Первая ключевая AI-фича — семантический RAG на базе pgvector. Раньше опыт уходил вместе с сотрудниками, а поиск по старым тикетам в IntraService работал только по точным совпадениям слов. Теперь система векторизует закрытые заявки. Когда падает заявка, скажем, 'не открывается отчет в 1С с ошибкой блокировки', инженер за 50 миллисекунд получает 3 самых успешных кейса решения аналогичной проблемы в прошлом».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Скрипт для спикера:</a:t>
            </a:r>
          </a:p>
          <a:p>
            <a:r>
              <a:t>«Вторая фича — пакетный триаж. Утром дежурный инженер видит в очереди 20–30 заявок. Вместо монотонного кликанья по каждой вкладке он запускает одну команду триажа. Система сама классифицирует тикеты, извлекает логины и хосты, подбирает регламентный шаблон и формирует готовые действия. Инженер лишь валидирует список в один клик. Разбор утренней стопки сократился с 25 минут до 30 секунд».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Скрипт для спикера:</a:t>
            </a:r>
          </a:p>
          <a:p>
            <a:r>
              <a:t>«Третий важный блок — очистка очереди от информационного мусора. Около 25-30% заявок в любой корпоративной системе — это либо повторные дубликаты, либо заявки, отправленные не в тот сервис. IntraLink автоматически связывает дубликаты с основной заявкой и отменяет их с понятным комментарием для пользователя. А ошибочные заявки мгновенно перенаправляются в правильные службы без отвлечения ИТ-инженера».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Скрипт для спикера:</a:t>
            </a:r>
          </a:p>
          <a:p>
            <a:r>
              <a:t>«Четвертая и пятая фичи — это наш локальный мультимодальный стек. Пользователи часто прикрепляют скриншоты без нормального описания: 'у меня тут вылезло окно, почините'. Модуль /screen сам считывает текст ошибки со скриншота и предлагает инженеру точный код сбоя. А встроенная модель Qwen2.5 сжимает длинные переписки в три четких пункта всего за 1.3 секунды, экономя время при пересменке и эскалации на 2-ю линию».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Скрипт для спикера:</a:t>
            </a:r>
          </a:p>
          <a:p>
            <a:r>
              <a:t>«Главное отличие IntraLink от простых чат-ботов — это реальная интеграция с инфраструктурой. Система не просто советует решение, она умеет его исполнять. Выдача Wi-Fi доступа в доменную группу, проверка доступности ПК по сети, удаленная установка принтера по WinRM выполняются нажатием одной кнопки. При этом соблюдается строгий принцип безопасности: статус тикета 'Выполнена' ставится только после успешного ответа контроллера домена».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Скрипт для спикера:</a:t>
            </a:r>
          </a:p>
          <a:p>
            <a:r>
              <a:t>«Для руководства и службы информационной безопасности принципиально важен вопрос конфиденциальности. Вся система IntraLink работает строго в локальной сети компании. Векторная база знаний pgvector и нейросеть Ollama развернуты на наших серверах. Все учетные записи зашифрованы криптографическим алгоритмом Fernet, а каждое действие роботизации логируется с фиксацией времени и исполнителя».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Скрипт для спикера:</a:t>
            </a:r>
          </a:p>
          <a:p>
            <a:r>
              <a:t>«Перейдем к языку цифр и бизнес-эффекта. Время первичной реакции снизилось на 96% — заявитель получает обратную связь в течение 30 секунд. Среднее время решения типовых заявок (MTTR) упало с 25 минут до полутора минут. Порядка 45% всей входящей стопки обрабатывается с помощью AI-ассистента, а суммарная экономия времени инженеров составляет около 160 человеко-часов в месяц. Это эквивалентно высвобождению целой штатной единицы для сложных проектов и модернизации инфраструктуры».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Скрипт для спикера:</a:t>
            </a:r>
          </a:p>
          <a:p>
            <a:r>
              <a:t>«Наш роадмап включает три этапа. Фундамент уже успешно заложен и работает: RAG, триаж, роботизация AD и локальная нейросеть внедрены. В ближайших планах — запуск интерактивного бота самообслуживания для пользователей и распознавание голосовых сообщений. В стратегической перспективе — переход к предиктивному обслуживанию, когда система предупреждает сбой до того, как пользователь успел создать тикет».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Скрипт для спикера:</a:t>
            </a:r>
          </a:p>
          <a:p>
            <a:r>
              <a:t>«Подводя итог: IntraLink AI трансформировал 1-ю линию поддержки из перегруженного узкого горлышка в высокоавтоматизированный, прозрачный и быстрый сервис. Спасибо за внимание! Готов ответить на любые вопросы и показать живую демонстрацию системы».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926080" cy="411480"/>
          </a:xfrm>
          <a:prstGeom prst="roundRect">
            <a:avLst/>
          </a:prstGeom>
          <a:solidFill>
            <a:srgbClr val="132440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B82F6"/>
                </a:solidFill>
                <a:latin typeface="JetBrains Mono"/>
              </a:defRPr>
            </a:pPr>
            <a:r>
              <a:t>NEXT-GEN IT HELPDESK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Inter"/>
              </a:defRPr>
            </a:pPr>
            <a:r>
              <a:t>IntraLink AI</a:t>
            </a:r>
          </a:p>
          <a:p>
            <a:pPr>
              <a:defRPr sz="2600" b="1">
                <a:solidFill>
                  <a:srgbClr val="3B82F6"/>
                </a:solidFill>
                <a:latin typeface="Inter"/>
              </a:defRPr>
            </a:pPr>
            <a:r>
              <a:t>Интеллектуальная трансформация Helpdesk 1-й линии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Inter"/>
              </a:defRPr>
            </a:pPr>
            <a:r>
              <a:t>Автоматизация триажа, семантическая база знаний RAG (pgvector), локальная LLM-суммаризация и роботизация инфраструктурных задач в закрытом контуре компании.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120640"/>
            <a:ext cx="3291840" cy="1097280"/>
          </a:xfrm>
          <a:prstGeom prst="roundRect">
            <a:avLst/>
          </a:prstGeom>
          <a:solidFill>
            <a:srgbClr val="181B1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5780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Inter"/>
              </a:defRPr>
            </a:pPr>
            <a:r>
              <a:t>-94% MTTR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Сокращение времени решения инцидентов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5120640"/>
            <a:ext cx="3291840" cy="1097280"/>
          </a:xfrm>
          <a:prstGeom prst="roundRect">
            <a:avLst/>
          </a:prstGeom>
          <a:solidFill>
            <a:srgbClr val="181B1F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525780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B82F6"/>
                </a:solidFill>
                <a:latin typeface="Inter"/>
              </a:defRPr>
            </a:pPr>
            <a:r>
              <a:t>100% On-Premise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Полная безопасность и закрытый контур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5120640"/>
            <a:ext cx="3383280" cy="1097280"/>
          </a:xfrm>
          <a:prstGeom prst="roundRect">
            <a:avLst/>
          </a:prstGeom>
          <a:solidFill>
            <a:srgbClr val="181B1F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5257800"/>
            <a:ext cx="3017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8B5CF6"/>
                </a:solidFill>
                <a:latin typeface="Inter"/>
              </a:defRPr>
            </a:pPr>
            <a:r>
              <a:t>160+ ч/мес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Экономия рабочего времени инженеров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JetBrains Mono"/>
              </a:defRPr>
            </a:pPr>
            <a:r>
              <a:t>ТЕКУЩИЕ ВЫЗОВЫ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Inter"/>
              </a:defRPr>
            </a:pPr>
            <a:r>
              <a:t>Узкие места традиционной 1-й линии поддержки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Inter"/>
              </a:defRPr>
            </a:pPr>
            <a:r>
              <a:t>С чем сталкивается ИТ-отдел при классическом ручном обслуживании заявок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37560" cy="4480560"/>
          </a:xfrm>
          <a:prstGeom prst="roundRect">
            <a:avLst/>
          </a:prstGeom>
          <a:solidFill>
            <a:srgbClr val="181B1F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Inter"/>
              </a:defRPr>
            </a:pPr>
            <a:r>
              <a:t>1. Высокая доля рутины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39"/>
            <a:ext cx="288036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До 40-50% заявок — однотипные задачи (доступ к Wi-Fi, сброс паролей, подключение принтеров, консультации).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Инженер тратит до 15 минут только на открытие, смену статуса, вбивание шаблона и закрытие каждого тикета.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В пиковые часы накапливается очередь («завал»), срываются регламентные SLA реакции.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37560" cy="4480560"/>
          </a:xfrm>
          <a:prstGeom prst="roundRect">
            <a:avLst/>
          </a:prstGeom>
          <a:solidFill>
            <a:srgbClr val="181B1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920240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Inter"/>
              </a:defRPr>
            </a:pPr>
            <a:r>
              <a:t>2. Потеря накопленного опыта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377439"/>
            <a:ext cx="288036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Исторические решения заперты в архиве закрытых тикетов (10 000+ заявок без удобного семантического поиска).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Новый или дежурный инженер заново исследует проблему, которая уже успешно решалась коллегой на прошлой неделе.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Рост MTTR (времени решения) сложных инцидентов из-за долгого поиска инструкций.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337560" cy="4480560"/>
          </a:xfrm>
          <a:prstGeom prst="roundRect">
            <a:avLst/>
          </a:prstGeom>
          <a:solidFill>
            <a:srgbClr val="181B1F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920240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Inter"/>
              </a:defRPr>
            </a:pPr>
            <a:r>
              <a:t>3. Дубли и мусорный поток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377439"/>
            <a:ext cx="288036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До 25% входящего потока — повторные заявки-дубликаты от нетерпеливых заявителей.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Ошибочные направления: заявки в ИТ, предназначенные для АХО, безопасности или бухгалтерии.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Ручная отмена и написание разъяснений отнимают ценные ресурсы ключевых специалистов.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JetBrains Mono"/>
              </a:defRPr>
            </a:pPr>
            <a:r>
              <a:t>АРХИТЕКТУРА РЕШЕНИЯ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Inter"/>
              </a:defRPr>
            </a:pPr>
            <a:r>
              <a:t>Комплексная AI-экосистема IntraLink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Inter"/>
              </a:defRPr>
            </a:pPr>
            <a:r>
              <a:t>Единый мозг, детерминированные правила и прямое исполнение в инфраструктуре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1280160"/>
          </a:xfrm>
          <a:prstGeom prst="roundRect">
            <a:avLst/>
          </a:prstGeom>
          <a:solidFill>
            <a:srgbClr val="181B1F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Inter"/>
              </a:defRPr>
            </a:pPr>
            <a:r>
              <a:t>1. Слой восприятия и интерфейсов (Интерактивный ввод)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B82F6"/>
                </a:solidFill>
                <a:latin typeface="JetBrains Mono"/>
              </a:defRPr>
            </a:pPr>
            <a:r>
              <a:t>Telegram-бот (Push-оповещения за 0.3 сек через Redis Streams)  |  Web SPA Admin Panel (/admin)  |  Antigravity Cockpit CLI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10698480" cy="1463040"/>
          </a:xfrm>
          <a:prstGeom prst="roundRect">
            <a:avLst/>
          </a:prstGeom>
          <a:solidFill>
            <a:srgbClr val="181B1F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383280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Inter"/>
              </a:defRPr>
            </a:pPr>
            <a:r>
              <a:t>2. Интеллектуальное ядро Core API &amp; AI 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7033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• Rule Engine: Детерминированный триаж, классификация и расчет SLA</a:t>
            </a:r>
            <a:br/>
            <a:r>
              <a:t>• RAG Engine: Семантический векторный поиск решений в PostgreSQL 16 (pgvector + FastEmbed)</a:t>
            </a:r>
            <a:br/>
            <a:r>
              <a:t>• Local LLM Engine: Локальная нейросеть Ollama (Qwen2.5:1.5B) для моментальной суммаризации</a:t>
            </a:r>
            <a:br/>
            <a:r>
              <a:t>• Vision Engine: Мультимодальный анализ скриншотов и артефактов сбоев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46320"/>
            <a:ext cx="10698480" cy="1371600"/>
          </a:xfrm>
          <a:prstGeom prst="roundRect">
            <a:avLst/>
          </a:prstGeom>
          <a:solidFill>
            <a:srgbClr val="181B1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029200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Inter"/>
              </a:defRPr>
            </a:pPr>
            <a:r>
              <a:t>3. Уровень исполнения в инфраструктуре (Zero-Click Execution)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34924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0B981"/>
                </a:solidFill>
                <a:latin typeface="JetBrains Mono"/>
              </a:defRPr>
            </a:pPr>
            <a:r>
              <a:t>Active Directory PowerShell (WLAN-WORKNET / Учетные записи)  |  WinRM / SMB (Установка принтеров)  |  Сетевая диагностика (Ping/DNS/SMB)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JetBrains Mono"/>
              </a:defRPr>
            </a:pPr>
            <a:r>
              <a:t>AI FEATURE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Inter"/>
              </a:defRPr>
            </a:pPr>
            <a:r>
              <a:t>Семантический RAG-поиск в базе решений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Inter"/>
              </a:defRPr>
            </a:pPr>
            <a:r>
              <a:t>Мгновенное извлечение готовых решений из 10 000+ архивных заявок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480560"/>
          </a:xfrm>
          <a:prstGeom prst="roundRect">
            <a:avLst/>
          </a:prstGeom>
          <a:solidFill>
            <a:srgbClr val="181B1F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Inter"/>
              </a:defRPr>
            </a:pPr>
            <a:r>
              <a:t>Как работает технология 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475488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1. Автосинхронизация (`/sync`):</a:t>
            </a:r>
            <a:br/>
            <a:r>
              <a:t>Каждая решенная инженером заявка векторизуется моделью FastEmbed и сохраняется в pgvector.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2. Семантическое понимание сути:</a:t>
            </a:r>
            <a:br/>
            <a:r>
              <a:t>Поиск находит релевантные решения не по точным ключевым словам, а по смыслу проблемы (синонимы, опечатки, разное описание сбоя пользователем).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3. Время отклика:</a:t>
            </a:r>
            <a:br/>
            <a:r>
              <a:t>Поиск по 10 000+ историческим кейсам занимает менее 50 миллисекунд.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480560"/>
          </a:xfrm>
          <a:prstGeom prst="roundRect">
            <a:avLst/>
          </a:prstGeom>
          <a:solidFill>
            <a:srgbClr val="181B1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202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Inter"/>
              </a:defRPr>
            </a:pPr>
            <a:r>
              <a:t>Бизнес-эффект и выгода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77440"/>
            <a:ext cx="475488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• Сокращение времени диагностики сложных инцидентов с 30 минут до 1 минуты.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Быстрый онбординг новичков: молодой специалист сразу видит точные шаги решения от ведущих инженеров.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Стандартизация качества ответов: заявители получают выверенные и проверенные инструкции.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Zero Cloud Leakage: все векторные базы и модели работают строго на корпоративном сервере.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JetBrains Mono"/>
              </a:defRPr>
            </a:pPr>
            <a:r>
              <a:t>AI FEATURE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Inter"/>
              </a:defRPr>
            </a:pPr>
            <a:r>
              <a:t>Пакетный интеллектуальный триаж очереди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Inter"/>
              </a:defRPr>
            </a:pPr>
            <a:r>
              <a:t>Разбор 20+ входящих заявок за 3-5 секунд вместо 20 минут ручной рутины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37560" cy="4480560"/>
          </a:xfrm>
          <a:prstGeom prst="roundRect">
            <a:avLst/>
          </a:prstGeom>
          <a:solidFill>
            <a:srgbClr val="181B1F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Inter"/>
              </a:defRPr>
            </a:pPr>
            <a:r>
              <a:t>1. Мгновенная классификация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2880360" cy="3566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Анализ темы и описания заявки алгоритмами Rule Engine + NLP.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Точное определение категории: Wi-Fi, 1C, Доступы, Принтеры, Аппаратный ремонт (Каб. 112).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Извлечение параметров: логин заявителя, имя ПК, инвентарный номер, версия ОС.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37560" cy="4480560"/>
          </a:xfrm>
          <a:prstGeom prst="roundRect">
            <a:avLst/>
          </a:prstGeom>
          <a:solidFill>
            <a:srgbClr val="181B1F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920240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Inter"/>
              </a:defRPr>
            </a:pPr>
            <a:r>
              <a:t>2. Адаптивные шаблоны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377440"/>
            <a:ext cx="2880360" cy="3566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Формирование персонализированного ответа с правильным обращением по имени/отчеству.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Автоматическая подстановка точных инструкций и регламентов компании.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Исключение опечаток и несогласованных формулировок.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337560" cy="4480560"/>
          </a:xfrm>
          <a:prstGeom prst="roundRect">
            <a:avLst/>
          </a:prstGeom>
          <a:solidFill>
            <a:srgbClr val="181B1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920240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Inter"/>
              </a:defRPr>
            </a:pPr>
            <a:r>
              <a:t>3. Пакетное исполнение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377440"/>
            <a:ext cx="2880360" cy="3566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Инженер видит сводный дашборд стопки с готовыми рекомендациями.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Одно подтверждение (чекбоксы) — и вся пачка заявок переводится в работу, закрывается и списывает трудозатраты.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• Скорость обработки увеличивается в 10 раз.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JetBrains Mono"/>
              </a:defRPr>
            </a:pPr>
            <a:r>
              <a:t>AI FEATURE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Inter"/>
              </a:defRPr>
            </a:pPr>
            <a:r>
              <a:t>Фильтрация шума: Умные дубликаты и авто-редирект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Inter"/>
              </a:defRPr>
            </a:pPr>
            <a:r>
              <a:t>Автоматическая очистка очереди от повторов и ошибочно направленных тикетов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480560"/>
          </a:xfrm>
          <a:prstGeom prst="roundRect">
            <a:avLst/>
          </a:prstGeom>
          <a:solidFill>
            <a:srgbClr val="181B1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Inter"/>
              </a:defRPr>
            </a:pPr>
            <a:r>
              <a:t>Автоматическое слияние дубликатов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475488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Проблема:</a:t>
            </a:r>
            <a:br/>
            <a:r>
              <a:t>Пользователи создают 2-3 одинаковые заявки подряд (через почту, портал и телефон).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AI-Решение (`/duplicates`):</a:t>
            </a:r>
            <a:br/>
            <a:r>
              <a:t>Алгоритм находит семантические и временные совпадения, определяет Master Ticket (основную заявку), переводит копии в статус «Отменена» и оставляет пользователю вежливый комментарий со ссылкой на основной тикет.</a:t>
            </a:r>
          </a:p>
          <a:p>
            <a:pPr>
              <a:defRPr sz="1200" b="1">
                <a:solidFill>
                  <a:srgbClr val="F59E0B"/>
                </a:solidFill>
              </a:defRPr>
            </a:pPr>
            <a:r>
              <a:t>• Эффект: Исключение двойной работы разными инженерами.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480560"/>
          </a:xfrm>
          <a:prstGeom prst="roundRect">
            <a:avLst/>
          </a:prstGeom>
          <a:solidFill>
            <a:srgbClr val="181B1F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202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Inter"/>
              </a:defRPr>
            </a:pPr>
            <a:r>
              <a:t>Интеллектуальный редирект сервисов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77440"/>
            <a:ext cx="475488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Проблема:</a:t>
            </a:r>
            <a:br/>
            <a:r>
              <a:t>Заявки на ремонт мебели, пропускной режим или замену лампочек по ошибке падают в очередь ИТ-отдела.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AI-Решение (`/redirect`):</a:t>
            </a:r>
            <a:br/>
            <a:r>
              <a:t>Система распознает нецелевой сервис, отменяет ошибочный тикет в ИТ-очереди и отправляет заявителю точную ссылку на нужную услугу в каталоге IntraService (АХО, СБ, Кадры).</a:t>
            </a:r>
          </a:p>
          <a:p>
            <a:pPr>
              <a:defRPr sz="1200" b="1">
                <a:solidFill>
                  <a:srgbClr val="3B82F6"/>
                </a:solidFill>
              </a:defRPr>
            </a:pPr>
            <a:r>
              <a:t>• Эффект: Очередь ИТ чиста от непрофильных задач.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JetBrains Mono"/>
              </a:defRPr>
            </a:pPr>
            <a:r>
              <a:t>AI FEATURES 04 &amp;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Inter"/>
              </a:defRPr>
            </a:pPr>
            <a:r>
              <a:t>Компьютерное зрение и локальная нейросеть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Inter"/>
              </a:defRPr>
            </a:pPr>
            <a:r>
              <a:t>Мультимодальный анализ скриншотов и мгновенная суммаризация инцидентов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480560"/>
          </a:xfrm>
          <a:prstGeom prst="roundRect">
            <a:avLst/>
          </a:prstGeom>
          <a:solidFill>
            <a:srgbClr val="181B1F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Inter"/>
              </a:defRPr>
            </a:pPr>
            <a:r>
              <a:t>Vision: Анализ скриншотов (/screen)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475488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Автоскачивание вложений из IntraService.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Распознавание системных окон: ошибки 1С, синие экраны смерти (BSOD), сетевые сбои Windows, ошибки драйверов.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Формирование гипотезы первопричины (Root Cause) и чек-листа решения до первого контакта с пользователем.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480560"/>
          </a:xfrm>
          <a:prstGeom prst="roundRect">
            <a:avLst/>
          </a:prstGeom>
          <a:solidFill>
            <a:srgbClr val="181B1F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202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Inter"/>
              </a:defRPr>
            </a:pPr>
            <a:r>
              <a:t>Локальная LLM: Суммаризация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77440"/>
            <a:ext cx="475488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Модель: Qwen2.5:1.5B в изолированном Docker-контейнере (Ollama).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Сжатие переписки: Анализирует длинную ветку из 10+ комментариев за 1.3 секунды.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Структурированная выжимка:</a:t>
            </a:r>
            <a:br/>
            <a:r>
              <a:t>1. Суть проблемы</a:t>
            </a:r>
            <a:br/>
            <a:r>
              <a:t>2. Что уже предпринималось</a:t>
            </a:r>
            <a:br/>
            <a:r>
              <a:t>3. Текущий блокер и следующий шаг.</a:t>
            </a:r>
          </a:p>
          <a:p>
            <a:pPr>
              <a:defRPr sz="1200" b="1">
                <a:solidFill>
                  <a:srgbClr val="8B5CF6"/>
                </a:solidFill>
              </a:defRPr>
            </a:pPr>
            <a:r>
              <a:t>• 100% приватность: Никакие данные не отправляются во внешние облака.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JetBrains Mono"/>
              </a:defRPr>
            </a:pPr>
            <a:r>
              <a:t>AI FEATURE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Inter"/>
              </a:defRPr>
            </a:pPr>
            <a:r>
              <a:t>Роботизация инфраструктуры (Zero-Click Execution)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Inter"/>
              </a:defRPr>
            </a:pPr>
            <a:r>
              <a:t>Автоматическое применение изменений в Active Directory и Windows-домене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37560" cy="4480560"/>
          </a:xfrm>
          <a:prstGeom prst="roundRect">
            <a:avLst/>
          </a:prstGeom>
          <a:solidFill>
            <a:srgbClr val="181B1F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Inter"/>
              </a:defRPr>
            </a:pPr>
            <a:r>
              <a:t>1. Экспресс-диагностика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2880360" cy="3566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Команда `/diag`:</a:t>
            </a:r>
            <a:br/>
            <a:r>
              <a:t>Мгновенная параллельная проверка хоста (Ping, DNS, SMB порт 445, WinRM порт 5985).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Инженер сразу знает: включен ли компьютер пользователя в сеть и готов ли он к удаленному подключению.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37560" cy="4480560"/>
          </a:xfrm>
          <a:prstGeom prst="roundRect">
            <a:avLst/>
          </a:prstGeom>
          <a:solidFill>
            <a:srgbClr val="181B1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920240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Inter"/>
              </a:defRPr>
            </a:pPr>
            <a:r>
              <a:t>2. Active Directory (Wi-Fi / УЗ)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377440"/>
            <a:ext cx="2880360" cy="3566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Выдача корпоративного Wi-Fi (`WLAN-WORKNET`) за 2 секунды.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Нормализация ФИО/инициалов и поиск учетной записи в домене.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Single-DC Affinity: исключение проблем репликации между контроллерами домена.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337560" cy="4480560"/>
          </a:xfrm>
          <a:prstGeom prst="roundRect">
            <a:avLst/>
          </a:prstGeom>
          <a:solidFill>
            <a:srgbClr val="181B1F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920240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Inter"/>
              </a:defRPr>
            </a:pPr>
            <a:r>
              <a:t>3. Оргтехника (WinRM / SMB)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377440"/>
            <a:ext cx="2880360" cy="3566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Удаленная установка драйверов принтеров без физического визита к рабочему месту.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База знаний моделей оргтехники и автоматическое сопоставление сетевых портов.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WMI bootstrap и Fail-Fast диагностика.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JetBrains Mono"/>
              </a:defRPr>
            </a:pPr>
            <a:r>
              <a:t>БЕЗОПАСНОСТЬ И КОМПЛАЕНС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Inter"/>
              </a:defRPr>
            </a:pPr>
            <a:r>
              <a:t>Enterprise-Grade безопасность и защита 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Inter"/>
              </a:defRPr>
            </a:pPr>
            <a:r>
              <a:t>100% On-Premise, криптографическая защита и строгий аудит действий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37560" cy="4480560"/>
          </a:xfrm>
          <a:prstGeom prst="roundRect">
            <a:avLst/>
          </a:prstGeom>
          <a:solidFill>
            <a:srgbClr val="181B1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Inter"/>
              </a:defRPr>
            </a:pPr>
            <a:r>
              <a:t>1. Изолированный контур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2880360" cy="3566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Полный On-Premise хостинг (Docker, локальный Postgres, Redis, Core API).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Никакие персональные данные, пароли или тексты заявок не отправляются в публичные нейросети (OpenAI, Anthropic и т.д.).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37560" cy="4480560"/>
          </a:xfrm>
          <a:prstGeom prst="roundRect">
            <a:avLst/>
          </a:prstGeom>
          <a:solidFill>
            <a:srgbClr val="181B1F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920240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Inter"/>
              </a:defRPr>
            </a:pPr>
            <a:r>
              <a:t>2. Криптография Fernet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377440"/>
            <a:ext cx="2880360" cy="3566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Все доменные учетные данные шифруются симметричным ключом Fernet.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Бот не хранит пароли пользователей локально.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Pre-shared X-Bot-Api-Key с защитой от Timing Attacks (secrets.compare_digest).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337560" cy="4480560"/>
          </a:xfrm>
          <a:prstGeom prst="roundRect">
            <a:avLst/>
          </a:prstGeom>
          <a:solidFill>
            <a:srgbClr val="181B1F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920240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Inter"/>
              </a:defRPr>
            </a:pPr>
            <a:r>
              <a:t>3. Строгий аудит и SLA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377440"/>
            <a:ext cx="2880360" cy="3566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Двойное логирование исполнителей: основной инженер + ассистент.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Фиксация каждого изменения в истории IntraService с точным списанием трудозатрат.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Полная прозрачность для службы информационной безопасности и ИТ-директора.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JetBrains Mono"/>
              </a:defRPr>
            </a:pPr>
            <a:r>
              <a:t>БИЗНЕС-ЭФФЕКТ И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Inter"/>
              </a:defRPr>
            </a:pPr>
            <a:r>
              <a:t>Измеримые результаты внедрения IntraLink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Inter"/>
              </a:defRPr>
            </a:pPr>
            <a:r>
              <a:t>Сравнение ключевых показателей эффективности работы Helpdesk до и после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468880" cy="4480560"/>
          </a:xfrm>
          <a:prstGeom prst="roundRect">
            <a:avLst/>
          </a:prstGeom>
          <a:solidFill>
            <a:srgbClr val="181B1F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Inter"/>
              </a:defRPr>
            </a:pPr>
            <a:r>
              <a:t>Время первой реакции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2103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B82F6"/>
                </a:solidFill>
                <a:latin typeface="Inter"/>
              </a:defRPr>
            </a:pPr>
            <a:r>
              <a:t>-96%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Было: 15–20 мин</a:t>
            </a:r>
            <a:br/>
            <a:r>
              <a:t>Стало: 30 секунд</a:t>
            </a:r>
            <a:br/>
            <a:br/>
            <a:r>
              <a:t>Мгновенные Push-уведомления в Telegram через Redis Streams.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737360"/>
            <a:ext cx="2468880" cy="4480560"/>
          </a:xfrm>
          <a:prstGeom prst="roundRect">
            <a:avLst/>
          </a:prstGeom>
          <a:solidFill>
            <a:srgbClr val="181B1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92024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Inter"/>
              </a:defRPr>
            </a:pPr>
            <a:r>
              <a:t>MTTR (Время решения)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377440"/>
            <a:ext cx="2103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Inter"/>
              </a:defRPr>
            </a:pPr>
            <a:r>
              <a:t>-94%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Было: 25 минут</a:t>
            </a:r>
            <a:br/>
            <a:r>
              <a:t>Стало: 1.5 минуты</a:t>
            </a:r>
            <a:br/>
            <a:br/>
            <a:r>
              <a:t>Для типовых заявок (Wi-Fi, пароли, принтеры, консультации).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2468880" cy="4480560"/>
          </a:xfrm>
          <a:prstGeom prst="roundRect">
            <a:avLst/>
          </a:prstGeom>
          <a:solidFill>
            <a:srgbClr val="181B1F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92024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Inter"/>
              </a:defRPr>
            </a:pPr>
            <a:r>
              <a:t>Автоматизация 1-й линии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77440"/>
            <a:ext cx="2103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8B5CF6"/>
                </a:solidFill>
                <a:latin typeface="Inter"/>
              </a:defRPr>
            </a:pPr>
            <a:r>
              <a:t>до 45%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Очереди обрабатывается в полуавтоматическом и автоматическом режиме без ручного набора текста.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737360"/>
            <a:ext cx="2468880" cy="4480560"/>
          </a:xfrm>
          <a:prstGeom prst="roundRect">
            <a:avLst/>
          </a:prstGeom>
          <a:solidFill>
            <a:srgbClr val="181B1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192024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Inter"/>
              </a:defRPr>
            </a:pPr>
            <a:r>
              <a:t>Экономия времени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377440"/>
            <a:ext cx="2103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9E0B"/>
                </a:solidFill>
                <a:latin typeface="Inter"/>
              </a:defRPr>
            </a:pPr>
            <a:r>
              <a:t>160 ч/мес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Высвобождается до 1 FTE инженера для решения инфраструктурных и проектных задач развития.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JetBrains Mono"/>
              </a:defRPr>
            </a:pPr>
            <a:r>
              <a:t>СТРАТЕГИЯ РАЗВИТИЯ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Inter"/>
              </a:defRPr>
            </a:pPr>
            <a:r>
              <a:t>Дорожная карта развития IntraLink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Inter"/>
              </a:defRPr>
            </a:pPr>
            <a:r>
              <a:t>Ключевые направления масштабирования платформы на следующие кварталы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37560" cy="4480560"/>
          </a:xfrm>
          <a:prstGeom prst="roundRect">
            <a:avLst/>
          </a:prstGeom>
          <a:solidFill>
            <a:srgbClr val="181B1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Inter"/>
              </a:defRPr>
            </a:pPr>
            <a:r>
              <a:t>Этап 1: Текущий статус (Реализовано)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2880360" cy="3566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✓ FastAPI Core Gateway &amp; Web UI</a:t>
            </a:r>
            <a:br/>
            <a:r>
              <a:t>✓ RAG база знаний pgvector + FastEmbed</a:t>
            </a:r>
            <a:br/>
            <a:r>
              <a:t>✓ Пакетный триаж очереди (/triage)</a:t>
            </a:r>
            <a:br/>
            <a:r>
              <a:t>✓ Авто-дубликаты и авто-редирект</a:t>
            </a:r>
            <a:br/>
            <a:r>
              <a:t>✓ Роботизация AD WLAN &amp; WinRM</a:t>
            </a:r>
            <a:br/>
            <a:r>
              <a:t>✓ Локальная LLM суммаризация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37560" cy="4480560"/>
          </a:xfrm>
          <a:prstGeom prst="roundRect">
            <a:avLst/>
          </a:prstGeom>
          <a:solidFill>
            <a:srgbClr val="181B1F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920240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Inter"/>
              </a:defRPr>
            </a:pPr>
            <a:r>
              <a:t>Этап 2: Ближайший квартал (Q3-Q4)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377440"/>
            <a:ext cx="2880360" cy="3566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Интерактивный AI-саппорт в Telegram для пользователей (самообслуживание).</a:t>
            </a:r>
            <a:br/>
            <a:r>
              <a:t>• Аудио-транскрипция голосовых заявок и звонков (Whisper local).</a:t>
            </a:r>
            <a:br/>
            <a:r>
              <a:t>• Расширение библиотеки драйверов оргтехники и SNMP-мониторинг остатка картриджей.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337560" cy="4480560"/>
          </a:xfrm>
          <a:prstGeom prst="roundRect">
            <a:avLst/>
          </a:prstGeom>
          <a:solidFill>
            <a:srgbClr val="181B1F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920240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Inter"/>
              </a:defRPr>
            </a:pPr>
            <a:r>
              <a:t>Этап 3: Стратегическая перспектива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377440"/>
            <a:ext cx="2880360" cy="3566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Предиктивная аналитика сбоев рабочих станций (предупреждение падений до обращения пользователя).</a:t>
            </a:r>
            <a:br/>
            <a:r>
              <a:t>• Автоматический аудит узких мест ИТ-процессов.</a:t>
            </a:r>
            <a:br/>
            <a:r>
              <a:t>• Кросс-сервисная интеграция с 1C и телефонией.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8FAFC"/>
                </a:solidFill>
                <a:latin typeface="Inter"/>
              </a:defRPr>
            </a:pPr>
            <a:r>
              <a:t>IntraLink AI</a:t>
            </a:r>
          </a:p>
          <a:p>
            <a:pPr>
              <a:defRPr sz="2400" b="1">
                <a:solidFill>
                  <a:srgbClr val="10B981"/>
                </a:solidFill>
                <a:latin typeface="Inter"/>
              </a:defRPr>
            </a:pPr>
            <a:r>
              <a:t>Интеллект. Скорость. Безопасность.</a:t>
            </a:r>
          </a:p>
          <a:p>
            <a:br/>
            <a:pPr>
              <a:defRPr sz="1400">
                <a:solidFill>
                  <a:srgbClr val="94A3B8"/>
                </a:solidFill>
                <a:latin typeface="Inter"/>
              </a:defRPr>
            </a:pPr>
            <a:r>
              <a:t>Готовы ответить на ваши вопросы и продемонстрировать систему в действии.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389120"/>
            <a:ext cx="10698480" cy="1645920"/>
          </a:xfrm>
          <a:prstGeom prst="roundRect">
            <a:avLst/>
          </a:prstGeom>
          <a:solidFill>
            <a:srgbClr val="181B1F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4572000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Inter"/>
              </a:defRPr>
            </a:pPr>
            <a:r>
              <a:t>Контакты и ресурсы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489204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  <a:latin typeface="JetBrains Mono"/>
              </a:defRPr>
            </a:pPr>
            <a:r>
              <a:t>• Веб-панель управления: http://core-api:8000/admin</a:t>
            </a:r>
            <a:br/>
            <a:r>
              <a:t>• Репозиторий проекта: IntraLink / intraservice-tg-bot</a:t>
            </a:r>
            <a:br/>
            <a:r>
              <a:t>• Документация и архитектура: /docs/architecture.md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